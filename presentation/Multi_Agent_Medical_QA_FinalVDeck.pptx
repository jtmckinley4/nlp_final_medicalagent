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8"/>
  </p:normalViewPr>
  <p:slideViewPr>
    <p:cSldViewPr snapToGrid="0" snapToObjects="1">
      <p:cViewPr varScale="1">
        <p:scale>
          <a:sx n="159" d="100"/>
          <a:sy n="159" d="100"/>
        </p:scale>
        <p:origin x="47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E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Calibri"/>
              </a:rPr>
              <a:t>CAP 6440  /  NLP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8412480" cy="13542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 i="0" dirty="0">
                <a:solidFill>
                  <a:srgbClr val="FFFFFF"/>
                </a:solidFill>
                <a:latin typeface="Georgia"/>
              </a:rPr>
              <a:t>A Multi-Agent Medical Question</a:t>
            </a:r>
            <a:r>
              <a:rPr lang="en-US" sz="4400" b="1" i="0" dirty="0">
                <a:solidFill>
                  <a:srgbClr val="FFFFFF"/>
                </a:solidFill>
                <a:latin typeface="Georgia"/>
              </a:rPr>
              <a:t> </a:t>
            </a:r>
            <a:r>
              <a:rPr sz="4400" b="1" i="0" dirty="0">
                <a:solidFill>
                  <a:srgbClr val="FFFFFF"/>
                </a:solidFill>
                <a:latin typeface="Georgia"/>
              </a:rPr>
              <a:t>Answering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736800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00C9A7"/>
                </a:solidFill>
                <a:latin typeface="Georgia"/>
              </a:rPr>
              <a:t>Retrieval, Delegation, Memory, and Safety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163824"/>
            <a:ext cx="3200400" cy="6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334670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00C9A7"/>
                </a:solidFill>
                <a:latin typeface="Calibri"/>
              </a:rP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21024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Julian McKinley  ·  Sanjana Vijayabhaskar  ·  Cristhian Cruz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7548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00C9A7"/>
                </a:solidFill>
                <a:latin typeface="Calibri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6888"/>
            <a:ext cx="777240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0D8F7A"/>
                </a:solidFill>
                <a:latin typeface="Calibri"/>
              </a:rPr>
              <a:t>01  · 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21207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00" b="1" i="0">
                <a:solidFill>
                  <a:srgbClr val="1A2424"/>
                </a:solidFill>
                <a:latin typeface="Georgia"/>
              </a:rPr>
              <a:t>Why one LLM call is not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D5050"/>
                </a:solidFill>
                <a:latin typeface="Calibri"/>
              </a:rPr>
              <a:t>Medical question answering is high risk. Answers must be accurate, cautious, grounded in evidence, and honest about uncertainty.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2199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0D8F7A"/>
                </a:solidFill>
                <a:latin typeface="Calibri"/>
              </a:rPr>
              <a:t>A single LLM call cannot reliably: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42032"/>
            <a:ext cx="484632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A2424"/>
                </a:solidFill>
                <a:latin typeface="Calibri"/>
              </a:rPr>
              <a:t>•  Decide whether a question is answerable as asked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2424"/>
                </a:solidFill>
                <a:latin typeface="Calibri"/>
              </a:rPr>
              <a:t>•  Retrieve evidence from a curated medical corpus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2424"/>
                </a:solidFill>
                <a:latin typeface="Calibri"/>
              </a:rPr>
              <a:t>•  Call a drug information API for medication queries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2424"/>
                </a:solidFill>
                <a:latin typeface="Calibri"/>
              </a:rPr>
              <a:t>•  Carry context across multiple turns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2424"/>
                </a:solidFill>
                <a:latin typeface="Calibri"/>
              </a:rPr>
              <a:t>•  Refuse unsafe or overly personalized requests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A2424"/>
                </a:solidFill>
                <a:latin typeface="Calibri"/>
              </a:rPr>
              <a:t>•  Independently review the drafted answer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0" y="1325880"/>
            <a:ext cx="3017520" cy="1097280"/>
          </a:xfrm>
          <a:prstGeom prst="rect">
            <a:avLst/>
          </a:prstGeom>
          <a:solidFill>
            <a:srgbClr val="F4F9F9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33872" y="1435607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HIGH-RISK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7296" y="1581912"/>
            <a:ext cx="749808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600" b="1" i="0">
                <a:solidFill>
                  <a:srgbClr val="007B78"/>
                </a:solidFill>
                <a:latin typeface="Georgia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8816" y="1673352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3D5050"/>
                </a:solidFill>
                <a:latin typeface="Georgia"/>
              </a:rPr>
              <a:t>specialized agents replacing one overloaded prompt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2560320"/>
            <a:ext cx="3017520" cy="1097280"/>
          </a:xfrm>
          <a:prstGeom prst="rect">
            <a:avLst/>
          </a:prstGeom>
          <a:solidFill>
            <a:srgbClr val="F4F9F9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33872" y="267004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EVIDENCE GROUNDED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7296" y="2816352"/>
            <a:ext cx="749808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600" b="1" i="0">
                <a:solidFill>
                  <a:srgbClr val="007B78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2907791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3D5050"/>
                </a:solidFill>
                <a:latin typeface="Georgia"/>
              </a:rPr>
              <a:t>evidence sources: MedQuAD corpus + openFDA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3794760"/>
            <a:ext cx="3017520" cy="1097280"/>
          </a:xfrm>
          <a:prstGeom prst="rect">
            <a:avLst/>
          </a:prstGeom>
          <a:solidFill>
            <a:srgbClr val="F4F9F9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33872" y="39044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FINAL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7296" y="4050792"/>
            <a:ext cx="749808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600" b="1" i="0">
                <a:solidFill>
                  <a:srgbClr val="007B78"/>
                </a:solidFill>
                <a:latin typeface="Georgia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4142232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3D5050"/>
                </a:solidFill>
                <a:latin typeface="Georgia"/>
              </a:rPr>
              <a:t>dedicated safety-verification pass before responding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10328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8080"/>
                </a:solidFill>
                <a:latin typeface="Calibri"/>
              </a:rPr>
              <a:t>Multi-Agent Medical QA  ·  Motivation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91032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80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6888"/>
            <a:ext cx="777240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0D8F7A"/>
                </a:solidFill>
                <a:latin typeface="Calibri"/>
              </a:rPr>
              <a:t>02  ·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21207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00" b="1" i="0">
                <a:solidFill>
                  <a:srgbClr val="1A2424"/>
                </a:solidFill>
                <a:latin typeface="Georgia"/>
              </a:rPr>
              <a:t>Router-plus-specialists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93852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5720" cy="777240"/>
          </a:xfrm>
          <a:prstGeom prst="rect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A2424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3D5050"/>
                </a:solidFill>
                <a:latin typeface="Calibri"/>
              </a:rPr>
              <a:t>natural language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2395728" y="1719072"/>
            <a:ext cx="219456" cy="6400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615184" y="1371600"/>
            <a:ext cx="193852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15184" y="1371600"/>
            <a:ext cx="45720" cy="777240"/>
          </a:xfrm>
          <a:prstGeom prst="rect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06624" y="1463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A2424"/>
                </a:solidFill>
                <a:latin typeface="Calibri"/>
              </a:rPr>
              <a:t>Memory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6624" y="178308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3D5050"/>
                </a:solidFill>
                <a:latin typeface="Calibri"/>
              </a:rPr>
              <a:t>load conversation state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53712" y="1719072"/>
            <a:ext cx="219456" cy="6400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73168" y="1371600"/>
            <a:ext cx="1938528" cy="777240"/>
          </a:xfrm>
          <a:prstGeom prst="rect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463040"/>
            <a:ext cx="193852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Router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1792224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C0E0E0"/>
                </a:solidFill>
                <a:latin typeface="Calibri"/>
              </a:rPr>
              <a:t>decides the route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11696" y="1719072"/>
            <a:ext cx="219456" cy="64008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931152" y="1371600"/>
            <a:ext cx="193852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931152" y="1371600"/>
            <a:ext cx="45720" cy="777240"/>
          </a:xfrm>
          <a:prstGeom prst="rect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22592" y="1463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A2424"/>
                </a:solidFill>
                <a:latin typeface="Calibri"/>
              </a:rPr>
              <a:t>Route 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2592" y="178308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3D5050"/>
                </a:solidFill>
                <a:latin typeface="Calibri"/>
              </a:rPr>
              <a:t>clarify · refuse · general · medication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560320"/>
            <a:ext cx="1938528" cy="685800"/>
          </a:xfrm>
          <a:prstGeom prst="rect">
            <a:avLst/>
          </a:prstGeom>
          <a:solidFill>
            <a:srgbClr val="EDF7F6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560320"/>
            <a:ext cx="45720" cy="685800"/>
          </a:xfrm>
          <a:prstGeom prst="rect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26334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A2424"/>
                </a:solidFill>
                <a:latin typeface="Calibri"/>
              </a:rPr>
              <a:t>Clarify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907791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3D5050"/>
                </a:solidFill>
                <a:latin typeface="Calibri"/>
              </a:rPr>
              <a:t>Return clarification question 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15184" y="2560320"/>
            <a:ext cx="1938528" cy="685800"/>
          </a:xfrm>
          <a:prstGeom prst="rect">
            <a:avLst/>
          </a:prstGeom>
          <a:solidFill>
            <a:srgbClr val="EDF7F6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615184" y="2560320"/>
            <a:ext cx="45720" cy="685800"/>
          </a:xfrm>
          <a:prstGeom prst="rect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06624" y="26334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A2424"/>
                </a:solidFill>
                <a:latin typeface="Calibri"/>
              </a:rPr>
              <a:t>Refuse / Defer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06624" y="2907791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3D5050"/>
                </a:solidFill>
                <a:latin typeface="Calibri"/>
              </a:rPr>
              <a:t>Out-of-scope or unsafe → safe deferral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73168" y="2560320"/>
            <a:ext cx="1938528" cy="685800"/>
          </a:xfrm>
          <a:prstGeom prst="rect">
            <a:avLst/>
          </a:prstGeom>
          <a:solidFill>
            <a:srgbClr val="EDF7F6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773168" y="2560320"/>
            <a:ext cx="45720" cy="685800"/>
          </a:xfrm>
          <a:prstGeom prst="rect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64607" y="26334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A2424"/>
                </a:solidFill>
                <a:latin typeface="Calibri"/>
              </a:rPr>
              <a:t>General Composer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64607" y="2907791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3D5050"/>
                </a:solidFill>
                <a:latin typeface="Calibri"/>
              </a:rPr>
              <a:t>RAG over MedQuAD vector store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31152" y="2560320"/>
            <a:ext cx="1938528" cy="685800"/>
          </a:xfrm>
          <a:prstGeom prst="rect">
            <a:avLst/>
          </a:prstGeom>
          <a:solidFill>
            <a:srgbClr val="EDF7F6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931152" y="2560320"/>
            <a:ext cx="45720" cy="685800"/>
          </a:xfrm>
          <a:prstGeom prst="rect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22592" y="26334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A2424"/>
                </a:solidFill>
                <a:latin typeface="Calibri"/>
              </a:rPr>
              <a:t>Medication Specialist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2592" y="2907791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3D5050"/>
                </a:solidFill>
                <a:latin typeface="Calibri"/>
              </a:rPr>
              <a:t>openFDA + name normalization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42900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" y="3547872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TOOL LAYER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3776472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1A2424"/>
                </a:solidFill>
                <a:latin typeface="Courier New"/>
              </a:rPr>
              <a:t>search_medical_kb  ·  lookup_drug_info_openfda
normalize_medication_name  ·  validate_evidence_support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429000"/>
            <a:ext cx="1874519" cy="914400"/>
          </a:xfrm>
          <a:prstGeom prst="rect">
            <a:avLst/>
          </a:prstGeom>
          <a:solidFill>
            <a:srgbClr val="EDF7F6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520440" y="3429000"/>
            <a:ext cx="45720" cy="914400"/>
          </a:xfrm>
          <a:prstGeom prst="rect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11880" y="3547872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A2424"/>
                </a:solidFill>
                <a:latin typeface="Calibri"/>
              </a:rPr>
              <a:t>Draft Answer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11880" y="3858768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3D5050"/>
                </a:solidFill>
                <a:latin typeface="Calibri"/>
              </a:rPr>
              <a:t>evidence + citations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3429000"/>
            <a:ext cx="2148840" cy="914400"/>
          </a:xfrm>
          <a:prstGeom prst="rect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715000" y="3547872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Safety Verifier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15000" y="3858768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C0E0E0"/>
                </a:solidFill>
                <a:latin typeface="Calibri"/>
              </a:rPr>
              <a:t>grounding · scope · escalation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0" y="44805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07B78"/>
                </a:solidFill>
                <a:latin typeface="Calibri"/>
              </a:rPr>
              <a:t>Final Answer → User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910328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8080"/>
                </a:solidFill>
                <a:latin typeface="Calibri"/>
              </a:rPr>
              <a:t>Multi-Agent Medical QA  ·  Architecture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491032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80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6888"/>
            <a:ext cx="777240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0D8F7A"/>
                </a:solidFill>
                <a:latin typeface="Calibri"/>
              </a:rPr>
              <a:t>03  · 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21207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00" b="1" i="0">
                <a:solidFill>
                  <a:srgbClr val="1A2424"/>
                </a:solidFill>
                <a:latin typeface="Georgia"/>
              </a:rPr>
              <a:t>What the system does — and doesn’t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931920" cy="3520440"/>
          </a:xfrm>
          <a:prstGeom prst="rect">
            <a:avLst/>
          </a:prstGeom>
          <a:solidFill>
            <a:srgbClr val="EDF7F6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0292" cy="3520440"/>
          </a:xfrm>
          <a:prstGeom prst="rect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37360"/>
            <a:ext cx="35661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2424"/>
                </a:solidFill>
                <a:latin typeface="Georgia"/>
              </a:rPr>
              <a:t>Provide trustworthy, grounded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86000"/>
            <a:ext cx="3566160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Evidence-grounded answers from a trusted medical corpus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Agent delegation that clearly adds value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Three+ strong tools doing real, deterministic work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Memory across turns for follow-up interpretation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Typed, validated structured outputs (Pydantic)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Final safety and grounding review on every answer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Evaluation suite: deterministic, LLM-judge, behavioral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371600"/>
            <a:ext cx="3977639" cy="3520440"/>
          </a:xfrm>
          <a:prstGeom prst="rect">
            <a:avLst/>
          </a:prstGeom>
          <a:solidFill>
            <a:srgbClr val="FEF5F5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09160" y="1371600"/>
            <a:ext cx="50292" cy="3520440"/>
          </a:xfrm>
          <a:prstGeom prst="rect">
            <a:avLst/>
          </a:prstGeom>
          <a:solidFill>
            <a:srgbClr val="8B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10328" y="1508760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8B3030"/>
                </a:solidFill>
                <a:latin typeface="Calibri"/>
              </a:rPr>
              <a:t>NON-GOALS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1737360"/>
            <a:ext cx="35661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2424"/>
                </a:solidFill>
                <a:latin typeface="Georgia"/>
              </a:rPr>
              <a:t>Stay inside a defensible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8" y="2286000"/>
            <a:ext cx="3566160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Diagnose medical conditions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Provide personalized treatment plans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Replace a clinician or pharmacist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Provide emergency response beyond escalation language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Guarantee complete or current medical accuracy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Answer every possible medical question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Optimize for production-scale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10328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8080"/>
                </a:solidFill>
                <a:latin typeface="Calibri"/>
              </a:rPr>
              <a:t>Multi-Agent Medical QA  · 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91032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80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E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Calibri"/>
              </a:rPr>
              <a:t>PART 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84124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Retrieval-Augmented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60604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00C9A7"/>
                </a:solidFill>
                <a:latin typeface="Georgia"/>
              </a:rPr>
              <a:t>Building the evidence layer the rest of the system depends 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218688"/>
            <a:ext cx="3200400" cy="6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6888"/>
            <a:ext cx="777240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0D8F7A"/>
                </a:solidFill>
                <a:latin typeface="Calibri"/>
              </a:rPr>
              <a:t>RAG  ·  WHY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21207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00" b="1" i="0">
                <a:solidFill>
                  <a:srgbClr val="1A2424"/>
                </a:solidFill>
                <a:latin typeface="Georgia"/>
              </a:rPr>
              <a:t>Retrieval is a tool, not an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EDF7F6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453896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1">
                <a:solidFill>
                  <a:srgbClr val="1A2424"/>
                </a:solidFill>
                <a:latin typeface="Georgia"/>
              </a:rPr>
              <a:t>“Knowledge is on disk, not in the model. Retrieval is the gate.”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38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D5050"/>
                </a:solidFill>
                <a:latin typeface="Calibri"/>
              </a:rPr>
              <a:t>RAG grounds every general medical answer in MedQuAD evidence — and surfaces citations the verifier can audit.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1460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21792" y="2697480"/>
            <a:ext cx="475488" cy="475488"/>
          </a:xfrm>
          <a:prstGeom prst="ellipse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26974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2715768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2424"/>
                </a:solidFill>
                <a:latin typeface="Georgia"/>
              </a:rPr>
              <a:t>Grounding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264408"/>
            <a:ext cx="235915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D5050"/>
                </a:solidFill>
                <a:latin typeface="Calibri"/>
              </a:rPr>
              <a:t>Composer answers are tied to retrieved chunks, not the LLM’s parametric memory.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251460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520440" y="2697480"/>
            <a:ext cx="475488" cy="475488"/>
          </a:xfrm>
          <a:prstGeom prst="ellipse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0440" y="26974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5656" y="2715768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2424"/>
                </a:solidFill>
                <a:latin typeface="Georgia"/>
              </a:rPr>
              <a:t>Auditability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264408"/>
            <a:ext cx="235915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D5050"/>
                </a:solidFill>
                <a:latin typeface="Calibri"/>
              </a:rPr>
              <a:t>Each citation carries an evidence_id the safety verifier can trace back to a chunk.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4496" y="251460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19088" y="2697480"/>
            <a:ext cx="475488" cy="475488"/>
          </a:xfrm>
          <a:prstGeom prst="ellipse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26974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4304" y="2715768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2424"/>
                </a:solidFill>
                <a:latin typeface="Georgia"/>
              </a:rPr>
              <a:t>Honest limits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264408"/>
            <a:ext cx="235915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3D5050"/>
                </a:solidFill>
                <a:latin typeface="Calibri"/>
              </a:rPr>
              <a:t>When retrieval is weak, the system says so instead of inventing detail.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10328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8080"/>
                </a:solidFill>
                <a:latin typeface="Calibri"/>
              </a:rPr>
              <a:t>Multi-Agent Medical QA  ·  Part 1: RAG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91032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80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6888"/>
            <a:ext cx="777240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0D8F7A"/>
                </a:solidFill>
                <a:latin typeface="Calibri"/>
              </a:rPr>
              <a:t>RAG  ·  KNOWLEDGE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21207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00" b="1" i="0">
                <a:solidFill>
                  <a:srgbClr val="1A2424"/>
                </a:solidFill>
                <a:latin typeface="Georgia"/>
              </a:rPr>
              <a:t>MedQuAD: a consumer-facing medical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2424"/>
                </a:solidFill>
                <a:latin typeface="Georgia"/>
              </a:rPr>
              <a:t>Why MedQuAD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64792"/>
            <a:ext cx="475488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Built from authoritative U.S. medical sources (NIH, MedlinePlus, NCI, GARD)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Targets consumer-style questions about symptoms, conditions, prevention, and treatment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Native question / answer / topic structure — clean to ingest as records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Strong fit for evidence-grounded retrieval; not designed for clinical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40680" y="1280160"/>
            <a:ext cx="3246120" cy="2834640"/>
          </a:xfrm>
          <a:prstGeom prst="rect">
            <a:avLst/>
          </a:prstGeom>
          <a:solidFill>
            <a:srgbClr val="EDF7F6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23560" y="1399032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RECORD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164592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07B78"/>
                </a:solidFill>
                <a:latin typeface="Courier New"/>
              </a:rP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883664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2424"/>
                </a:solidFill>
                <a:latin typeface="Courier New"/>
              </a:rPr>
              <a:t>What are the symptoms of anemia?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21762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07B78"/>
                </a:solidFill>
                <a:latin typeface="Courier New"/>
              </a:rPr>
              <a:t>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2414016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2424"/>
                </a:solidFill>
                <a:latin typeface="Courier New"/>
              </a:rPr>
              <a:t>Anemia symptoms vary by type but commonly include...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83464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07B78"/>
                </a:solidFill>
                <a:latin typeface="Courier New"/>
              </a:rPr>
              <a:t>topic  ·  source_metadata  ·  doc_id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97680"/>
            <a:ext cx="8229600" cy="658368"/>
          </a:xfrm>
          <a:prstGeom prst="rect">
            <a:avLst/>
          </a:prstGeom>
          <a:solidFill>
            <a:srgbClr val="EDF7F6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8B3030"/>
                </a:solidFill>
                <a:latin typeface="Calibri"/>
              </a:rPr>
              <a:t>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08576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3D5050"/>
                </a:solidFill>
                <a:latin typeface="Calibri"/>
              </a:rPr>
              <a:t>Static snapshot · coverage is uneven · not authoritative for medication interactions · not a substitute for clinical judgment.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10328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8080"/>
                </a:solidFill>
                <a:latin typeface="Calibri"/>
              </a:rPr>
              <a:t>Multi-Agent Medical QA  ·  Part 1: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91032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80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6888"/>
            <a:ext cx="777240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0D8F7A"/>
                </a:solidFill>
                <a:latin typeface="Calibri"/>
              </a:rPr>
              <a:t>RAG  ·  CHUNKING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21207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00" b="1" i="0">
                <a:solidFill>
                  <a:srgbClr val="1A2424"/>
                </a:solidFill>
                <a:latin typeface="Georgia"/>
              </a:rPr>
              <a:t>Record-aware over fixed-size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931920" cy="3520440"/>
          </a:xfrm>
          <a:prstGeom prst="rect">
            <a:avLst/>
          </a:prstGeom>
          <a:solidFill>
            <a:srgbClr val="FEF5F5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0292" cy="3520440"/>
          </a:xfrm>
          <a:prstGeom prst="rect">
            <a:avLst/>
          </a:prstGeom>
          <a:solidFill>
            <a:srgbClr val="8B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8B3030"/>
                </a:solidFill>
                <a:latin typeface="Calibri"/>
              </a:rPr>
              <a:t>FIXED-SIZE CHUNKING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37360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2424"/>
                </a:solidFill>
                <a:latin typeface="Georgia"/>
              </a:rPr>
              <a:t>What we did NOT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58568"/>
            <a:ext cx="3566160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Splits answers mid-sentence on token count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Loses Q / A pairing — retrieved text drifts from the question that motivates it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Over-fragments short, already-self-contained MedQuAD records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Generic; ignores the fact that the corpus is structured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371600"/>
            <a:ext cx="3977639" cy="3520440"/>
          </a:xfrm>
          <a:prstGeom prst="rect">
            <a:avLst/>
          </a:prstGeom>
          <a:solidFill>
            <a:srgbClr val="EDF7F6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09160" y="1371600"/>
            <a:ext cx="50292" cy="3520440"/>
          </a:xfrm>
          <a:prstGeom prst="rect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10328" y="1508760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RECORD-AWARE CHUNKING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1737360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2424"/>
                </a:solidFill>
                <a:latin typeface="Georgia"/>
              </a:rPr>
              <a:t>Our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8" y="2258568"/>
            <a:ext cx="3566160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Short answers stay as a single, self-contained chunk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Long answers split on sentence boundaries only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Question + answer + topic stay attached as metadata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doc_id and source_metadata preserved on every chunk for citation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10328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8080"/>
                </a:solidFill>
                <a:latin typeface="Calibri"/>
              </a:rPr>
              <a:t>Multi-Agent Medical QA  ·  Part 1: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91032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80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6888"/>
            <a:ext cx="777240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0D8F7A"/>
                </a:solidFill>
                <a:latin typeface="Calibri"/>
              </a:rPr>
              <a:t>RAG  ·  EMBEDDINGS &amp; 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21207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00" b="1" i="0">
                <a:solidFill>
                  <a:srgbClr val="1A2424"/>
                </a:solidFill>
                <a:latin typeface="Georgia"/>
              </a:rPr>
              <a:t>all-MiniLM-L6-v2 → ChromaDB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938528" cy="1024128"/>
          </a:xfrm>
          <a:prstGeom prst="rect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93852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MedQuAD
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29967"/>
            <a:ext cx="193852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C0E0E0"/>
                </a:solidFill>
                <a:latin typeface="Calibri"/>
              </a:rPr>
              <a:t>JSON Q/A + metadata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2395728" y="1828800"/>
            <a:ext cx="228600" cy="91440"/>
          </a:xfrm>
          <a:prstGeom prst="rect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24328" y="1371600"/>
            <a:ext cx="1938528" cy="1024128"/>
          </a:xfrm>
          <a:prstGeom prst="rect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24328" y="1508760"/>
            <a:ext cx="193852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Chunker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2029967"/>
            <a:ext cx="193852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C0E0E0"/>
                </a:solidFill>
                <a:latin typeface="Calibri"/>
              </a:rPr>
              <a:t>record-aware splitter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62856" y="1828800"/>
            <a:ext cx="228600" cy="91440"/>
          </a:xfrm>
          <a:prstGeom prst="rect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91456" y="1371600"/>
            <a:ext cx="1938528" cy="1024128"/>
          </a:xfrm>
          <a:prstGeom prst="rect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91456" y="1508760"/>
            <a:ext cx="193852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Embedder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91456" y="2029967"/>
            <a:ext cx="193852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C0E0E0"/>
                </a:solidFill>
                <a:latin typeface="Calibri"/>
              </a:rPr>
              <a:t>all-MiniLM-L6-v2 (384-d)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9984" y="1828800"/>
            <a:ext cx="228600" cy="91440"/>
          </a:xfrm>
          <a:prstGeom prst="rect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58584" y="1371600"/>
            <a:ext cx="1938528" cy="1024128"/>
          </a:xfrm>
          <a:prstGeom prst="rect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58584" y="1508760"/>
            <a:ext cx="193852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ChromaDB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8584" y="2029967"/>
            <a:ext cx="1938528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C0E0E0"/>
                </a:solidFill>
                <a:latin typeface="Calibri"/>
              </a:rPr>
              <a:t>vector store + metadata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06040"/>
            <a:ext cx="3931920" cy="2194560"/>
          </a:xfrm>
          <a:prstGeom prst="rect">
            <a:avLst/>
          </a:prstGeom>
          <a:solidFill>
            <a:srgbClr val="EDF7F6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2715768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WHAT EACH ROW STORES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962656"/>
            <a:ext cx="356616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embedding vector (384 dims)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chunk text  ·  chunk_id  ·  doc_id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source metadata (site, title, URL when available)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topic / category for filtered search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2606040"/>
            <a:ext cx="4023360" cy="2194560"/>
          </a:xfrm>
          <a:prstGeom prst="rect">
            <a:avLst/>
          </a:prstGeom>
          <a:solidFill>
            <a:srgbClr val="EDF7F6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46320" y="2715768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WHY THESE CHOICES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2962656"/>
            <a:ext cx="365760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MiniLM is small, fast, and strong on sentence similarity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ChromaDB ships with metadata filters out of the box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Both are local — no external dependency for retrieval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Easy to swap the embedder later without touching the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910328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8080"/>
                </a:solidFill>
                <a:latin typeface="Calibri"/>
              </a:rPr>
              <a:t>Multi-Agent Medical QA  ·  Part 1: 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91032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80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6888"/>
            <a:ext cx="777240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0D8F7A"/>
                </a:solidFill>
                <a:latin typeface="Calibri"/>
              </a:rPr>
              <a:t>RAG  ·  RETRIEVAL &amp; CITATIONS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21207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00" b="1" i="0">
                <a:solidFill>
                  <a:srgbClr val="1A2424"/>
                </a:solidFill>
                <a:latin typeface="Georgia"/>
              </a:rPr>
              <a:t>From query to a cited draft</a:t>
            </a:r>
          </a:p>
        </p:txBody>
      </p:sp>
      <p:sp>
        <p:nvSpPr>
          <p:cNvPr id="4" name="Oval 3"/>
          <p:cNvSpPr/>
          <p:nvPr/>
        </p:nvSpPr>
        <p:spPr>
          <a:xfrm>
            <a:off x="448056" y="1344168"/>
            <a:ext cx="402336" cy="402336"/>
          </a:xfrm>
          <a:prstGeom prst="ellipse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48056" y="1344168"/>
            <a:ext cx="4023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137160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2424"/>
                </a:solidFill>
                <a:latin typeface="Calibri"/>
              </a:rPr>
              <a:t>Specialist calls search_medical_kb(query, filters, top_k)</a:t>
            </a:r>
          </a:p>
        </p:txBody>
      </p:sp>
      <p:sp>
        <p:nvSpPr>
          <p:cNvPr id="7" name="Oval 6"/>
          <p:cNvSpPr/>
          <p:nvPr/>
        </p:nvSpPr>
        <p:spPr>
          <a:xfrm>
            <a:off x="448056" y="1947672"/>
            <a:ext cx="402336" cy="402336"/>
          </a:xfrm>
          <a:prstGeom prst="ellipse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" y="1947672"/>
            <a:ext cx="4023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975104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2424"/>
                </a:solidFill>
                <a:latin typeface="Calibri"/>
              </a:rPr>
              <a:t>ChromaDB returns top-k chunks ranked by cosine similarity</a:t>
            </a:r>
          </a:p>
        </p:txBody>
      </p:sp>
      <p:sp>
        <p:nvSpPr>
          <p:cNvPr id="10" name="Oval 9"/>
          <p:cNvSpPr/>
          <p:nvPr/>
        </p:nvSpPr>
        <p:spPr>
          <a:xfrm>
            <a:off x="448056" y="2551176"/>
            <a:ext cx="402336" cy="402336"/>
          </a:xfrm>
          <a:prstGeom prst="ellipse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" y="2551176"/>
            <a:ext cx="4023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578608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2424"/>
                </a:solidFill>
                <a:latin typeface="Calibri"/>
              </a:rPr>
              <a:t>Composer drafts an answer using only those chunks</a:t>
            </a:r>
          </a:p>
        </p:txBody>
      </p:sp>
      <p:sp>
        <p:nvSpPr>
          <p:cNvPr id="13" name="Oval 12"/>
          <p:cNvSpPr/>
          <p:nvPr/>
        </p:nvSpPr>
        <p:spPr>
          <a:xfrm>
            <a:off x="448056" y="3154679"/>
            <a:ext cx="402336" cy="402336"/>
          </a:xfrm>
          <a:prstGeom prst="ellipse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" y="3154679"/>
            <a:ext cx="4023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3182112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2424"/>
                </a:solidFill>
                <a:latin typeface="Calibri"/>
              </a:rPr>
              <a:t>Each claim gets a Citation tagged source_type = medical_kb</a:t>
            </a:r>
          </a:p>
        </p:txBody>
      </p:sp>
      <p:sp>
        <p:nvSpPr>
          <p:cNvPr id="16" name="Oval 15"/>
          <p:cNvSpPr/>
          <p:nvPr/>
        </p:nvSpPr>
        <p:spPr>
          <a:xfrm>
            <a:off x="448056" y="3758184"/>
            <a:ext cx="402336" cy="402336"/>
          </a:xfrm>
          <a:prstGeom prst="ellipse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" y="3758184"/>
            <a:ext cx="4023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3785616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1A2424"/>
                </a:solidFill>
                <a:latin typeface="Calibri"/>
              </a:rPr>
              <a:t>validate_evidence_support checks IDs and coarse claim support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1234440"/>
            <a:ext cx="3493008" cy="3017520"/>
          </a:xfrm>
          <a:prstGeom prst="rect">
            <a:avLst/>
          </a:prstGeom>
          <a:solidFill>
            <a:srgbClr val="00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22392" y="1344168"/>
            <a:ext cx="3255263" cy="27980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FFFFFF"/>
                </a:solidFill>
                <a:latin typeface="Courier New"/>
              </a:rPr>
              <a:t>class Citation(BaseModel):</a:t>
            </a:r>
          </a:p>
          <a:p>
            <a:r>
              <a:rPr sz="850">
                <a:solidFill>
                  <a:srgbClr val="FFFFFF"/>
                </a:solidFill>
                <a:latin typeface="Courier New"/>
              </a:rPr>
              <a:t>    source_type: Literal[</a:t>
            </a:r>
          </a:p>
          <a:p>
            <a:r>
              <a:rPr sz="850">
                <a:solidFill>
                  <a:srgbClr val="FFFFFF"/>
                </a:solidFill>
                <a:latin typeface="Courier New"/>
              </a:rPr>
              <a:t>        "medical_kb", "openfda"</a:t>
            </a:r>
          </a:p>
          <a:p>
            <a:r>
              <a:rPr sz="850">
                <a:solidFill>
                  <a:srgbClr val="FFFFFF"/>
                </a:solidFill>
                <a:latin typeface="Courier New"/>
              </a:rPr>
              <a:t>    ]</a:t>
            </a:r>
          </a:p>
          <a:p>
            <a:r>
              <a:rPr sz="850">
                <a:solidFill>
                  <a:srgbClr val="FFFFFF"/>
                </a:solidFill>
                <a:latin typeface="Courier New"/>
              </a:rPr>
              <a:t>    evidence_id: str</a:t>
            </a:r>
          </a:p>
          <a:p>
            <a:r>
              <a:rPr sz="850">
                <a:solidFill>
                  <a:srgbClr val="FFFFFF"/>
                </a:solidFill>
                <a:latin typeface="Courier New"/>
              </a:rPr>
              <a:t>    source_title: str</a:t>
            </a:r>
          </a:p>
          <a:p>
            <a:r>
              <a:rPr sz="850">
                <a:solidFill>
                  <a:srgbClr val="FFFFFF"/>
                </a:solidFill>
                <a:latin typeface="Courier New"/>
              </a:rPr>
              <a:t>    source_site: str</a:t>
            </a:r>
          </a:p>
          <a:p>
            <a:r>
              <a:rPr sz="850">
                <a:solidFill>
                  <a:srgbClr val="FFFFFF"/>
                </a:solidFill>
                <a:latin typeface="Courier New"/>
              </a:rPr>
              <a:t>    url: str | None = None</a:t>
            </a:r>
          </a:p>
          <a:p>
            <a:r>
              <a:rPr sz="850">
                <a:solidFill>
                  <a:srgbClr val="FFFFFF"/>
                </a:solidFill>
                <a:latin typeface="Courier New"/>
              </a:rPr>
              <a:t>    supporting_text: str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132588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Calibri"/>
              </a:rPr>
              <a:t>CITATION SCHEMA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70832"/>
            <a:ext cx="8229600" cy="512064"/>
          </a:xfrm>
          <a:prstGeom prst="rect">
            <a:avLst/>
          </a:prstGeom>
          <a:solidFill>
            <a:srgbClr val="EDF7F6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446227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3D5050"/>
                </a:solidFill>
                <a:latin typeface="Calibri"/>
              </a:rPr>
              <a:t>Source-typed citations let the safety verifier check that medication claims came from openFDA — and KB claims came from MedQuAD.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910328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8080"/>
                </a:solidFill>
                <a:latin typeface="Calibri"/>
              </a:rPr>
              <a:t>Multi-Agent Medical QA  ·  Part 1: 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91032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80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E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Calibri"/>
              </a:rPr>
              <a:t>PART 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84124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Georgia"/>
              </a:rPr>
              <a:t>The Multi-Agent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60604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00C9A7"/>
                </a:solidFill>
                <a:latin typeface="Georgia"/>
              </a:rPr>
              <a:t>Routing, specialization, and a final safety review.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218688"/>
            <a:ext cx="3200400" cy="6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6888"/>
            <a:ext cx="777240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0D8F7A"/>
                </a:solidFill>
                <a:latin typeface="Calibri"/>
              </a:rPr>
              <a:t>AGENT 1  ·  ROUTER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21207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00" b="1" i="0" dirty="0">
                <a:solidFill>
                  <a:srgbClr val="1A2424"/>
                </a:solidFill>
                <a:latin typeface="Georgia"/>
              </a:rPr>
              <a:t>Router — true control flow, not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53896"/>
            <a:ext cx="8229600" cy="640080"/>
          </a:xfrm>
          <a:prstGeom prst="rect">
            <a:avLst/>
          </a:prstGeom>
          <a:solidFill>
            <a:srgbClr val="EDF7F6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31620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1A2424"/>
                </a:solidFill>
                <a:latin typeface="Georgia"/>
              </a:rPr>
              <a:t>Decides what should happen next: clarify, refuse, or delegate to a specialist. Its output literally selects which agent runs.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21408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KEY RESPONSIBILITIES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50008"/>
            <a:ext cx="39319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Determine if the query is answerable as asked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Decide between general medical and medication paths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Detect high-risk situations early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Refuse or defer clearly out-of-scope requests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Use memory to resolve follow-up references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3931920" cy="804672"/>
          </a:xfrm>
          <a:prstGeom prst="rect">
            <a:avLst/>
          </a:prstGeom>
          <a:solidFill>
            <a:srgbClr val="EDF7F6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TOOLS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1A2424"/>
                </a:solidFill>
                <a:latin typeface="Courier New"/>
              </a:rPr>
              <a:t>(Specialist agents as tools)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21408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5000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2424"/>
                </a:solidFill>
                <a:latin typeface="Calibri"/>
              </a:rPr>
              <a:t>user query  ·  memory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9748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STRUCTURED OUTPUT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2926080"/>
            <a:ext cx="4069080" cy="1298448"/>
          </a:xfrm>
          <a:prstGeom prst="rect">
            <a:avLst/>
          </a:prstGeom>
          <a:solidFill>
            <a:srgbClr val="00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82312" y="3035808"/>
            <a:ext cx="3831336" cy="10789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FFFFFF"/>
                </a:solidFill>
                <a:latin typeface="Courier New"/>
              </a:rPr>
              <a:t>class RouterDecision(BaseModel):</a:t>
            </a:r>
          </a:p>
          <a:p>
            <a:r>
              <a:rPr sz="850">
                <a:solidFill>
                  <a:srgbClr val="FFFFFF"/>
                </a:solidFill>
                <a:latin typeface="Courier New"/>
              </a:rPr>
              <a:t>    route: Literal["clarify", "refuse_or_defer",</a:t>
            </a:r>
          </a:p>
          <a:p>
            <a:r>
              <a:rPr sz="850">
                <a:solidFill>
                  <a:srgbClr val="FFFFFF"/>
                </a:solidFill>
                <a:latin typeface="Courier New"/>
              </a:rPr>
              <a:t>                   "general_medical", "medication"]</a:t>
            </a:r>
          </a:p>
          <a:p>
            <a:r>
              <a:rPr sz="850">
                <a:solidFill>
                  <a:srgbClr val="FFFFFF"/>
                </a:solidFill>
                <a:latin typeface="Courier New"/>
              </a:rPr>
              <a:t>    risk_level: Literal["low", "medium", "high"]</a:t>
            </a:r>
          </a:p>
          <a:p>
            <a:r>
              <a:rPr sz="850">
                <a:solidFill>
                  <a:srgbClr val="FFFFFF"/>
                </a:solidFill>
                <a:latin typeface="Courier New"/>
              </a:rPr>
              <a:t>    clarification_question: str | None = None</a:t>
            </a:r>
          </a:p>
          <a:p>
            <a:r>
              <a:rPr sz="850">
                <a:solidFill>
                  <a:srgbClr val="FFFFFF"/>
                </a:solidFill>
                <a:latin typeface="Courier New"/>
              </a:rPr>
              <a:t>    rationale: str</a:t>
            </a:r>
          </a:p>
          <a:p>
            <a:r>
              <a:rPr sz="850">
                <a:solidFill>
                  <a:srgbClr val="FFFFFF"/>
                </a:solidFill>
                <a:latin typeface="Courier New"/>
              </a:rPr>
              <a:t>    memory_used: bool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4270248"/>
            <a:ext cx="4069080" cy="594360"/>
          </a:xfrm>
          <a:prstGeom prst="rect">
            <a:avLst/>
          </a:prstGeom>
          <a:solidFill>
            <a:srgbClr val="FEF5F5"/>
          </a:solidFill>
          <a:ln w="6350">
            <a:solidFill>
              <a:srgbClr val="DD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00600" y="4343400"/>
            <a:ext cx="374903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8B3030"/>
                </a:solidFill>
                <a:latin typeface="Calibri"/>
              </a:rPr>
              <a:t>KEY FAILURE MODES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544568"/>
            <a:ext cx="374903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3D5050"/>
                </a:solidFill>
                <a:latin typeface="Calibri"/>
              </a:rPr>
              <a:t>Wrong specialist · answering when clarification was needed · missing a high-risk situation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10328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8080"/>
                </a:solidFill>
                <a:latin typeface="Calibri"/>
              </a:rPr>
              <a:t>Multi-Agent Medical QA  ·  Part 2: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91032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80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6888"/>
            <a:ext cx="777240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0D8F7A"/>
                </a:solidFill>
                <a:latin typeface="Calibri"/>
              </a:rPr>
              <a:t>AGENT 2  ·  COMPOSER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21207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00" b="1" i="0" dirty="0">
                <a:solidFill>
                  <a:srgbClr val="1A2424"/>
                </a:solidFill>
                <a:latin typeface="Georgia"/>
              </a:rPr>
              <a:t>General Medical Composer — RAG-grounded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34485"/>
            <a:ext cx="8229600" cy="640080"/>
          </a:xfrm>
          <a:prstGeom prst="rect">
            <a:avLst/>
          </a:prstGeom>
          <a:solidFill>
            <a:srgbClr val="EDF7F6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16781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 dirty="0">
                <a:solidFill>
                  <a:srgbClr val="1A2424"/>
                </a:solidFill>
                <a:latin typeface="Georgia"/>
              </a:rPr>
              <a:t>Handles non-medication questions. Pulls evidence from </a:t>
            </a:r>
            <a:r>
              <a:rPr sz="1200" b="0" i="1" dirty="0" err="1">
                <a:solidFill>
                  <a:srgbClr val="1A2424"/>
                </a:solidFill>
                <a:latin typeface="Georgia"/>
              </a:rPr>
              <a:t>MedQuAD</a:t>
            </a:r>
            <a:r>
              <a:rPr sz="1200" b="0" i="1" dirty="0">
                <a:solidFill>
                  <a:srgbClr val="1A2424"/>
                </a:solidFill>
                <a:latin typeface="Georgia"/>
              </a:rPr>
              <a:t>, synthesizes a user-friendly answer, and attaches citations.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21408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KEY RESPONSIBILITIES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50008"/>
            <a:ext cx="39319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Call search_medical_kb with the user’s query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Synthesize retrieved chunks into a clear answer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Attach Citation objects backed by chunk IDs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Express uncertainty when retrieval is weak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Stay away from diagnosis or personalized advice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3931920" cy="804672"/>
          </a:xfrm>
          <a:prstGeom prst="rect">
            <a:avLst/>
          </a:prstGeom>
          <a:solidFill>
            <a:srgbClr val="EDF7F6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TOOLS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1A2424"/>
                </a:solidFill>
                <a:latin typeface="Courier New"/>
              </a:rPr>
              <a:t>search_medical_kb  ·  validate_evidence_support (optional self-check)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21408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5000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2424"/>
                </a:solidFill>
                <a:latin typeface="Calibri"/>
              </a:rPr>
              <a:t>user query  ·  router decision  ·  memory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9748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STRUCTURED OUTPUT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2926080"/>
            <a:ext cx="4069080" cy="1298448"/>
          </a:xfrm>
          <a:prstGeom prst="rect">
            <a:avLst/>
          </a:prstGeom>
          <a:solidFill>
            <a:srgbClr val="00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82312" y="3035808"/>
            <a:ext cx="3831336" cy="10789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FFFFFF"/>
                </a:solidFill>
                <a:latin typeface="Courier New"/>
              </a:rPr>
              <a:t>class DraftMedicalAnswer(BaseModel):</a:t>
            </a:r>
          </a:p>
          <a:p>
            <a:r>
              <a:rPr sz="850">
                <a:solidFill>
                  <a:srgbClr val="FFFFFF"/>
                </a:solidFill>
                <a:latin typeface="Courier New"/>
              </a:rPr>
              <a:t>    route: Literal["general_medical", "medication"]</a:t>
            </a:r>
          </a:p>
          <a:p>
            <a:r>
              <a:rPr sz="850">
                <a:solidFill>
                  <a:srgbClr val="FFFFFF"/>
                </a:solidFill>
                <a:latin typeface="Courier New"/>
              </a:rPr>
              <a:t>    direct_answer: str</a:t>
            </a:r>
          </a:p>
          <a:p>
            <a:r>
              <a:rPr sz="850">
                <a:solidFill>
                  <a:srgbClr val="FFFFFF"/>
                </a:solidFill>
                <a:latin typeface="Courier New"/>
              </a:rPr>
              <a:t>    evidence_summary: str</a:t>
            </a:r>
          </a:p>
          <a:p>
            <a:r>
              <a:rPr sz="850">
                <a:solidFill>
                  <a:srgbClr val="FFFFFF"/>
                </a:solidFill>
                <a:latin typeface="Courier New"/>
              </a:rPr>
              <a:t>    citations: list[Citation]</a:t>
            </a:r>
          </a:p>
          <a:p>
            <a:r>
              <a:rPr sz="850">
                <a:solidFill>
                  <a:srgbClr val="FFFFFF"/>
                </a:solidFill>
                <a:latin typeface="Courier New"/>
              </a:rPr>
              <a:t>    safety_note: str</a:t>
            </a:r>
          </a:p>
          <a:p>
            <a:r>
              <a:rPr sz="850">
                <a:solidFill>
                  <a:srgbClr val="FFFFFF"/>
                </a:solidFill>
                <a:latin typeface="Courier New"/>
              </a:rPr>
              <a:t>    confidence: float</a:t>
            </a:r>
          </a:p>
          <a:p>
            <a:r>
              <a:rPr sz="850">
                <a:solidFill>
                  <a:srgbClr val="FFFFFF"/>
                </a:solidFill>
                <a:latin typeface="Courier New"/>
              </a:rPr>
              <a:t>    unresolved_points: list[str] = []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4270248"/>
            <a:ext cx="4069080" cy="594360"/>
          </a:xfrm>
          <a:prstGeom prst="rect">
            <a:avLst/>
          </a:prstGeom>
          <a:solidFill>
            <a:srgbClr val="FEF5F5"/>
          </a:solidFill>
          <a:ln w="6350">
            <a:solidFill>
              <a:srgbClr val="DD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00600" y="4343400"/>
            <a:ext cx="374903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8B3030"/>
                </a:solidFill>
                <a:latin typeface="Calibri"/>
              </a:rPr>
              <a:t>KEY FAILURE MODES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544568"/>
            <a:ext cx="374903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3D5050"/>
                </a:solidFill>
                <a:latin typeface="Calibri"/>
              </a:rPr>
              <a:t>Hallucinated claims · weak retrieval used poorly · over-confident wording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10328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8080"/>
                </a:solidFill>
                <a:latin typeface="Calibri"/>
              </a:rPr>
              <a:t>Multi-Agent Medical QA  ·  Part 2: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91032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80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6888"/>
            <a:ext cx="777240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0D8F7A"/>
                </a:solidFill>
                <a:latin typeface="Calibri"/>
              </a:rPr>
              <a:t>AGENT 3  ·  MEDICATION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21207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00" b="1" i="0">
                <a:solidFill>
                  <a:srgbClr val="1A2424"/>
                </a:solidFill>
                <a:latin typeface="Georgia"/>
              </a:rPr>
              <a:t>Medication Specialist — openFDA lookups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44752"/>
            <a:ext cx="8229600" cy="640080"/>
          </a:xfrm>
          <a:prstGeom prst="rect">
            <a:avLst/>
          </a:prstGeom>
          <a:solidFill>
            <a:srgbClr val="EDF7F6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08759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 dirty="0">
                <a:solidFill>
                  <a:srgbClr val="1A2424"/>
                </a:solidFill>
                <a:latin typeface="Georgia"/>
              </a:rPr>
              <a:t>Handles medication questions through structured drug-label lookup. Pulls KB context only when it adds non-drug background.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21408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KEY RESPONSIBILITIES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50008"/>
            <a:ext cx="39319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dirty="0">
                <a:solidFill>
                  <a:srgbClr val="1A2424"/>
                </a:solidFill>
                <a:latin typeface="Calibri"/>
              </a:rPr>
              <a:t>•  Normalize the medication name (brand ↔ generic)</a:t>
            </a:r>
          </a:p>
          <a:p>
            <a:pPr algn="l">
              <a:spcAft>
                <a:spcPts val="300"/>
              </a:spcAft>
            </a:pPr>
            <a:r>
              <a:rPr sz="1100" b="0" dirty="0">
                <a:solidFill>
                  <a:srgbClr val="1A2424"/>
                </a:solidFill>
                <a:latin typeface="Calibri"/>
              </a:rPr>
              <a:t>•  Call </a:t>
            </a:r>
            <a:r>
              <a:rPr sz="1100" b="0" dirty="0" err="1">
                <a:solidFill>
                  <a:srgbClr val="1A2424"/>
                </a:solidFill>
                <a:latin typeface="Calibri"/>
              </a:rPr>
              <a:t>lookup_drug_info_openfda</a:t>
            </a:r>
            <a:r>
              <a:rPr sz="1100" b="0" dirty="0">
                <a:solidFill>
                  <a:srgbClr val="1A2424"/>
                </a:solidFill>
                <a:latin typeface="Calibri"/>
              </a:rPr>
              <a:t> for label / warnings</a:t>
            </a:r>
          </a:p>
          <a:p>
            <a:pPr algn="l">
              <a:spcAft>
                <a:spcPts val="300"/>
              </a:spcAft>
            </a:pPr>
            <a:r>
              <a:rPr sz="1100" b="0" dirty="0">
                <a:solidFill>
                  <a:srgbClr val="1A2424"/>
                </a:solidFill>
                <a:latin typeface="Calibri"/>
              </a:rPr>
              <a:t>•  Interpret </a:t>
            </a:r>
            <a:r>
              <a:rPr sz="1100" b="0" dirty="0" err="1">
                <a:solidFill>
                  <a:srgbClr val="1A2424"/>
                </a:solidFill>
                <a:latin typeface="Calibri"/>
              </a:rPr>
              <a:t>openFDA</a:t>
            </a:r>
            <a:r>
              <a:rPr sz="1100" b="0" dirty="0">
                <a:solidFill>
                  <a:srgbClr val="1A2424"/>
                </a:solidFill>
                <a:latin typeface="Calibri"/>
              </a:rPr>
              <a:t> fields cautiously</a:t>
            </a:r>
          </a:p>
          <a:p>
            <a:pPr algn="l">
              <a:spcAft>
                <a:spcPts val="300"/>
              </a:spcAft>
            </a:pPr>
            <a:r>
              <a:rPr sz="1100" b="0" dirty="0">
                <a:solidFill>
                  <a:srgbClr val="1A2424"/>
                </a:solidFill>
                <a:latin typeface="Calibri"/>
              </a:rPr>
              <a:t>•  Optionally fetch background context from the KB</a:t>
            </a:r>
          </a:p>
          <a:p>
            <a:pPr algn="l">
              <a:spcAft>
                <a:spcPts val="300"/>
              </a:spcAft>
            </a:pPr>
            <a:r>
              <a:rPr sz="1100" b="0" dirty="0">
                <a:solidFill>
                  <a:srgbClr val="1A2424"/>
                </a:solidFill>
                <a:latin typeface="Calibri"/>
              </a:rPr>
              <a:t>•  Cite each claim with the right </a:t>
            </a:r>
            <a:r>
              <a:rPr sz="1100" b="0" dirty="0" err="1">
                <a:solidFill>
                  <a:srgbClr val="1A2424"/>
                </a:solidFill>
                <a:latin typeface="Calibri"/>
              </a:rPr>
              <a:t>source_type</a:t>
            </a:r>
            <a:endParaRPr sz="1100" b="0" dirty="0">
              <a:solidFill>
                <a:srgbClr val="1A2424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3931920" cy="804672"/>
          </a:xfrm>
          <a:prstGeom prst="rect">
            <a:avLst/>
          </a:prstGeom>
          <a:solidFill>
            <a:srgbClr val="EDF7F6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TOOLS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1A2424"/>
                </a:solidFill>
                <a:latin typeface="Courier New"/>
              </a:rPr>
              <a:t>normalize_medication_name  ·  lookup_drug_info_openfda
·  search_medical_kb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21408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5000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2424"/>
                </a:solidFill>
                <a:latin typeface="Calibri"/>
              </a:rPr>
              <a:t>user query  ·  router decision  ·  memory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9748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STRUCTURED OUTPUT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2926080"/>
            <a:ext cx="4069080" cy="1298448"/>
          </a:xfrm>
          <a:prstGeom prst="rect">
            <a:avLst/>
          </a:prstGeom>
          <a:solidFill>
            <a:srgbClr val="00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82312" y="3035808"/>
            <a:ext cx="3831336" cy="10789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FFFFFF"/>
                </a:solidFill>
                <a:latin typeface="Courier New"/>
              </a:rPr>
              <a:t>DraftMedicalAnswer  (same schema as the Composer)</a:t>
            </a:r>
          </a:p>
          <a:p>
            <a:r>
              <a:rPr sz="850">
                <a:solidFill>
                  <a:srgbClr val="FFFFFF"/>
                </a:solidFill>
                <a:latin typeface="Courier New"/>
              </a:rPr>
              <a:t>router is set to "medication"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4270248"/>
            <a:ext cx="4069080" cy="594360"/>
          </a:xfrm>
          <a:prstGeom prst="rect">
            <a:avLst/>
          </a:prstGeom>
          <a:solidFill>
            <a:srgbClr val="FEF5F5"/>
          </a:solidFill>
          <a:ln w="6350">
            <a:solidFill>
              <a:srgbClr val="DD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00600" y="4343400"/>
            <a:ext cx="374903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8B3030"/>
                </a:solidFill>
                <a:latin typeface="Calibri"/>
              </a:rPr>
              <a:t>KEY FAILURE MODES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544568"/>
            <a:ext cx="374903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3D5050"/>
                </a:solidFill>
                <a:latin typeface="Calibri"/>
              </a:rPr>
              <a:t>Brand/generic mismatch · overstating what an openFDA label proves · turning label info into patient-specific guidance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10328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8080"/>
                </a:solidFill>
                <a:latin typeface="Calibri"/>
              </a:rPr>
              <a:t>Multi-Agent Medical QA  ·  Part 2: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91032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80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6888"/>
            <a:ext cx="777240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0D8F7A"/>
                </a:solidFill>
                <a:latin typeface="Calibri"/>
              </a:rPr>
              <a:t>AGENT 4  · 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21207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00" b="1" i="0" dirty="0">
                <a:solidFill>
                  <a:srgbClr val="1A2424"/>
                </a:solidFill>
                <a:latin typeface="Georgia"/>
              </a:rPr>
              <a:t>Safety Verification — the final review pass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7612"/>
            <a:ext cx="8229600" cy="640080"/>
          </a:xfrm>
          <a:prstGeom prst="rect">
            <a:avLst/>
          </a:prstGeom>
          <a:solidFill>
            <a:srgbClr val="EDF7F6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 dirty="0">
                <a:solidFill>
                  <a:srgbClr val="1A2424"/>
                </a:solidFill>
                <a:latin typeface="Georgia"/>
              </a:rPr>
              <a:t>Reviews every draft before it reaches the user. Checks grounding, scope, escalation, and overclaiming — and revises when it has 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21408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KEY RESPONSIBILITIES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50008"/>
            <a:ext cx="393192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Run validate_evidence_support over claims and citations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Catch unsupported or over-confident wording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Enforce escalation language for high-risk queries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Reject drafts that drift into diagnosis or personalization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Revise rather than block, when revision is enough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3931920" cy="804672"/>
          </a:xfrm>
          <a:prstGeom prst="rect">
            <a:avLst/>
          </a:prstGeom>
          <a:solidFill>
            <a:srgbClr val="EDF7F6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TOOLS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1A2424"/>
                </a:solidFill>
                <a:latin typeface="Courier New"/>
              </a:rPr>
              <a:t>validate_evidence_support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21408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5000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2424"/>
                </a:solidFill>
                <a:latin typeface="Calibri"/>
              </a:rPr>
              <a:t>user query  ·  draft answer  ·  retrieved evidence  · 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9748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STRUCTURED OUTPUT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2926080"/>
            <a:ext cx="4069080" cy="1298448"/>
          </a:xfrm>
          <a:prstGeom prst="rect">
            <a:avLst/>
          </a:prstGeom>
          <a:solidFill>
            <a:srgbClr val="00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82312" y="3035808"/>
            <a:ext cx="3831336" cy="10789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FFFFFF"/>
                </a:solidFill>
                <a:latin typeface="Courier New"/>
              </a:rPr>
              <a:t>class SafetyCheckResult(BaseModel):</a:t>
            </a:r>
          </a:p>
          <a:p>
            <a:r>
              <a:rPr sz="850">
                <a:solidFill>
                  <a:srgbClr val="FFFFFF"/>
                </a:solidFill>
                <a:latin typeface="Courier New"/>
              </a:rPr>
              <a:t>    approved: bool</a:t>
            </a:r>
          </a:p>
          <a:p>
            <a:r>
              <a:rPr sz="850">
                <a:solidFill>
                  <a:srgbClr val="FFFFFF"/>
                </a:solidFill>
                <a:latin typeface="Courier New"/>
              </a:rPr>
              <a:t>    requires_revision: bool</a:t>
            </a:r>
          </a:p>
          <a:p>
            <a:r>
              <a:rPr sz="850">
                <a:solidFill>
                  <a:srgbClr val="FFFFFF"/>
                </a:solidFill>
                <a:latin typeface="Courier New"/>
              </a:rPr>
              <a:t>    issues: list[str]</a:t>
            </a:r>
          </a:p>
          <a:p>
            <a:r>
              <a:rPr sz="850">
                <a:solidFill>
                  <a:srgbClr val="FFFFFF"/>
                </a:solidFill>
                <a:latin typeface="Courier New"/>
              </a:rPr>
              <a:t>    revised_answer:</a:t>
            </a:r>
          </a:p>
          <a:p>
            <a:r>
              <a:rPr sz="850">
                <a:solidFill>
                  <a:srgbClr val="FFFFFF"/>
                </a:solidFill>
                <a:latin typeface="Courier New"/>
              </a:rPr>
              <a:t>        DraftMedicalAnswer | None = None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4270248"/>
            <a:ext cx="4069080" cy="594360"/>
          </a:xfrm>
          <a:prstGeom prst="rect">
            <a:avLst/>
          </a:prstGeom>
          <a:solidFill>
            <a:srgbClr val="FEF5F5"/>
          </a:solidFill>
          <a:ln w="6350">
            <a:solidFill>
              <a:srgbClr val="DD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00600" y="4343400"/>
            <a:ext cx="3749039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8B3030"/>
                </a:solidFill>
                <a:latin typeface="Calibri"/>
              </a:rPr>
              <a:t>KEY FAILURE MODES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544568"/>
            <a:ext cx="374903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3D5050"/>
                </a:solidFill>
                <a:latin typeface="Calibri"/>
              </a:rPr>
              <a:t>Missing an unsupported claim · over-correcting into vagueness · approving an out-of-scope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10328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8080"/>
                </a:solidFill>
                <a:latin typeface="Calibri"/>
              </a:rPr>
              <a:t>Multi-Agent Medical QA  ·  Part 2: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91032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80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6888"/>
            <a:ext cx="777240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0D8F7A"/>
                </a:solidFill>
                <a:latin typeface="Calibri"/>
              </a:rPr>
              <a:t>PIPELINE  · 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21207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00" b="1" i="0">
                <a:solidFill>
                  <a:srgbClr val="1A2424"/>
                </a:solidFill>
                <a:latin typeface="Georgia"/>
              </a:rPr>
              <a:t>Four tools that do real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0292" cy="1417320"/>
          </a:xfrm>
          <a:prstGeom prst="rect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150876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RETRIEVAL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73736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2424"/>
                </a:solidFill>
                <a:latin typeface="Georgia"/>
              </a:rPr>
              <a:t>search_medical_kb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121408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D5050"/>
                </a:solidFill>
                <a:latin typeface="Calibri"/>
              </a:rPr>
              <a:t>Semantic top-k search over the MedQuAD vector store with optional metadata filters.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37160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09160" y="1371600"/>
            <a:ext cx="50292" cy="1417320"/>
          </a:xfrm>
          <a:prstGeom prst="rect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64608" y="150876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DETERMINISTIC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173736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2424"/>
                </a:solidFill>
                <a:latin typeface="Georgia"/>
              </a:rPr>
              <a:t>normalize_medication_name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8" y="2121408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D5050"/>
                </a:solidFill>
                <a:latin typeface="Calibri"/>
              </a:rPr>
              <a:t>Resolves brand / generic / spelling variants to a canonical lookup form before the API call.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99232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999232"/>
            <a:ext cx="50292" cy="1417320"/>
          </a:xfrm>
          <a:prstGeom prst="rect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" y="3136391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EXTERNAL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364991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2424"/>
                </a:solidFill>
                <a:latin typeface="Georgia"/>
              </a:rPr>
              <a:t>lookup_drug_info_openfda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749039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D5050"/>
                </a:solidFill>
                <a:latin typeface="Calibri"/>
              </a:rPr>
              <a:t>Pulls structured label and warning fields from openFDA — the medication path’s source of truth.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2999232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09160" y="2999232"/>
            <a:ext cx="50292" cy="1417320"/>
          </a:xfrm>
          <a:prstGeom prst="rect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64608" y="3136391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3364991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2424"/>
                </a:solidFill>
                <a:latin typeface="Georgia"/>
              </a:rPr>
              <a:t>validate_evidence_support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8" y="3749039"/>
            <a:ext cx="36576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D5050"/>
                </a:solidFill>
                <a:latin typeface="Calibri"/>
              </a:rPr>
              <a:t>Checks citation IDs exist and that major claims are coarsely supported by retrieved evidence.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910328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8080"/>
                </a:solidFill>
                <a:latin typeface="Calibri"/>
              </a:rPr>
              <a:t>Each tool either calls something external or runs a check the LLM cannot self-certify  ·  Part 2: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91032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808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6888"/>
            <a:ext cx="777240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0D8F7A"/>
                </a:solidFill>
                <a:latin typeface="Calibri"/>
              </a:rPr>
              <a:t>PIPELINE  ·  MEMORY &amp;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21207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00" b="1" i="0">
                <a:solidFill>
                  <a:srgbClr val="1A2424"/>
                </a:solidFill>
                <a:latin typeface="Georgia"/>
              </a:rPr>
              <a:t>Just enough state, nothing more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93192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0292" cy="3520440"/>
          </a:xfrm>
          <a:prstGeom prst="rect">
            <a:avLst/>
          </a:prstGeom>
          <a:solidFill>
            <a:srgbClr val="8B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8B3030"/>
                </a:solidFill>
                <a:latin typeface="Calibri"/>
              </a:rPr>
              <a:t>MEMORY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37360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A2424"/>
                </a:solidFill>
                <a:latin typeface="Georgia"/>
              </a:rPr>
              <a:t>Minimal summary, not a medical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35661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current_topic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mentioned_entities (conditions, drugs)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last_answer_summary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open_references — what “that” / “it” might refer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520440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USED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767328"/>
            <a:ext cx="3566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Router — to interpret follow-ups like “What about treatment?”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Specialists — to stay coherent across turns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424"/>
                </a:solidFill>
                <a:latin typeface="Calibri"/>
              </a:rPr>
              <a:t>•  Verifier — to flag pseudo-personalization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1" y="1330371"/>
            <a:ext cx="3977639" cy="3520440"/>
          </a:xfrm>
          <a:prstGeom prst="rect">
            <a:avLst/>
          </a:prstGeom>
          <a:solidFill>
            <a:srgbClr val="EDF7F6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09160" y="1371600"/>
            <a:ext cx="50292" cy="3520440"/>
          </a:xfrm>
          <a:prstGeom prst="rect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10328" y="1508760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ORCHESTRATION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627591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 dirty="0">
                <a:solidFill>
                  <a:srgbClr val="1A2424"/>
                </a:solidFill>
                <a:latin typeface="Georgia"/>
              </a:rPr>
              <a:t>Controlled pipeline + agent-as-tool</a:t>
            </a:r>
          </a:p>
        </p:txBody>
      </p:sp>
      <p:sp>
        <p:nvSpPr>
          <p:cNvPr id="15" name="Oval 14"/>
          <p:cNvSpPr/>
          <p:nvPr/>
        </p:nvSpPr>
        <p:spPr>
          <a:xfrm>
            <a:off x="4885182" y="2007107"/>
            <a:ext cx="402336" cy="402336"/>
          </a:xfrm>
          <a:prstGeom prst="ellipse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85182" y="2007107"/>
            <a:ext cx="4023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0670" y="20345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>
                <a:solidFill>
                  <a:srgbClr val="1A2424"/>
                </a:solidFill>
                <a:latin typeface="Calibri"/>
              </a:rPr>
              <a:t>Load memory summary</a:t>
            </a:r>
          </a:p>
        </p:txBody>
      </p:sp>
      <p:sp>
        <p:nvSpPr>
          <p:cNvPr id="18" name="Oval 17"/>
          <p:cNvSpPr/>
          <p:nvPr/>
        </p:nvSpPr>
        <p:spPr>
          <a:xfrm>
            <a:off x="4885182" y="2482595"/>
            <a:ext cx="402336" cy="402336"/>
          </a:xfrm>
          <a:prstGeom prst="ellipse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85182" y="2482595"/>
            <a:ext cx="4023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0670" y="251002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>
                <a:solidFill>
                  <a:srgbClr val="1A2424"/>
                </a:solidFill>
                <a:latin typeface="Calibri"/>
              </a:rPr>
              <a:t>Run Router → </a:t>
            </a:r>
            <a:r>
              <a:rPr sz="1100" b="0" i="0" dirty="0" err="1">
                <a:solidFill>
                  <a:srgbClr val="1A2424"/>
                </a:solidFill>
                <a:latin typeface="Calibri"/>
              </a:rPr>
              <a:t>RouterDecision</a:t>
            </a:r>
            <a:endParaRPr sz="1100" b="0" i="0" dirty="0">
              <a:solidFill>
                <a:srgbClr val="1A2424"/>
              </a:solidFill>
              <a:latin typeface="Calibri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885182" y="2958083"/>
            <a:ext cx="402336" cy="402336"/>
          </a:xfrm>
          <a:prstGeom prst="ellipse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85182" y="2958083"/>
            <a:ext cx="4023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0670" y="2985516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2424"/>
                </a:solidFill>
                <a:latin typeface="Calibri"/>
              </a:rPr>
              <a:t>Clarify, refuse, or delegate to a specialist</a:t>
            </a:r>
          </a:p>
        </p:txBody>
      </p:sp>
      <p:sp>
        <p:nvSpPr>
          <p:cNvPr id="24" name="Oval 23"/>
          <p:cNvSpPr/>
          <p:nvPr/>
        </p:nvSpPr>
        <p:spPr>
          <a:xfrm>
            <a:off x="4885182" y="3433572"/>
            <a:ext cx="402336" cy="402336"/>
          </a:xfrm>
          <a:prstGeom prst="ellipse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85182" y="3433572"/>
            <a:ext cx="4023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0670" y="3461004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2424"/>
                </a:solidFill>
                <a:latin typeface="Calibri"/>
              </a:rPr>
              <a:t>Specialist returns DraftMedicalAnswer</a:t>
            </a:r>
          </a:p>
        </p:txBody>
      </p:sp>
      <p:sp>
        <p:nvSpPr>
          <p:cNvPr id="27" name="Oval 26"/>
          <p:cNvSpPr/>
          <p:nvPr/>
        </p:nvSpPr>
        <p:spPr>
          <a:xfrm>
            <a:off x="4885182" y="3909060"/>
            <a:ext cx="402336" cy="402336"/>
          </a:xfrm>
          <a:prstGeom prst="ellipse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85182" y="3909060"/>
            <a:ext cx="4023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0670" y="393649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2424"/>
                </a:solidFill>
                <a:latin typeface="Calibri"/>
              </a:rPr>
              <a:t>Safety Verifier reviews / revises</a:t>
            </a:r>
          </a:p>
        </p:txBody>
      </p:sp>
      <p:sp>
        <p:nvSpPr>
          <p:cNvPr id="30" name="Oval 29"/>
          <p:cNvSpPr/>
          <p:nvPr/>
        </p:nvSpPr>
        <p:spPr>
          <a:xfrm>
            <a:off x="4885182" y="4384548"/>
            <a:ext cx="402336" cy="402336"/>
          </a:xfrm>
          <a:prstGeom prst="ellipse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85182" y="4384548"/>
            <a:ext cx="402336" cy="4023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60670" y="44119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2424"/>
                </a:solidFill>
                <a:latin typeface="Calibri"/>
              </a:rPr>
              <a:t>Update memory · return final answer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3137" y="4942251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8080"/>
                </a:solidFill>
                <a:latin typeface="Calibri"/>
              </a:rPr>
              <a:t>Multi-Agent Medical QA  ·  Part 2: Pipeline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91032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808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E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Calibri"/>
              </a:rPr>
              <a:t>PART 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84124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Evaluation  —  Results &amp;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1460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00C9A7"/>
                </a:solidFill>
                <a:latin typeface="Georgia"/>
              </a:rPr>
              <a:t>How the multi-agent design actually performed across 13 test cases.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011120"/>
            <a:ext cx="3200400" cy="6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6888"/>
            <a:ext cx="777240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0D8F7A"/>
                </a:solidFill>
                <a:latin typeface="Calibri"/>
              </a:rPr>
              <a:t>EVALUATION  ·  TEST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21207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00" b="1" i="0">
                <a:solidFill>
                  <a:srgbClr val="1A2424"/>
                </a:solidFill>
                <a:latin typeface="Georgia"/>
              </a:rPr>
              <a:t>13 cases tested across 8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DIMENSIONS TESTED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27632"/>
            <a:ext cx="429768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Factual grounding against retrieved evidence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Citation validity (IDs that exist, source type matches)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Routing quality across the four routes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Tool usage — right tool, right path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Safety behavior on high-risk queries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Memory usefulness across multi-turn dialogues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Multi-agent value vs. a simpler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983480" y="1280160"/>
            <a:ext cx="3749039" cy="3566160"/>
          </a:xfrm>
          <a:prstGeom prst="rect">
            <a:avLst/>
          </a:prstGeom>
          <a:solidFill>
            <a:srgbClr val="EDF7F6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66360" y="138988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TEST CASE CATEGORIES</a:t>
            </a:r>
          </a:p>
        </p:txBody>
      </p:sp>
      <p:sp>
        <p:nvSpPr>
          <p:cNvPr id="8" name="Oval 7"/>
          <p:cNvSpPr/>
          <p:nvPr/>
        </p:nvSpPr>
        <p:spPr>
          <a:xfrm>
            <a:off x="5166360" y="1719072"/>
            <a:ext cx="155448" cy="155448"/>
          </a:xfrm>
          <a:prstGeom prst="ellipse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94960" y="166420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A2424"/>
                </a:solidFill>
                <a:latin typeface="Calibri"/>
              </a:rPr>
              <a:t>General informational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68249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3D5050"/>
                </a:solidFill>
                <a:latin typeface="Calibri"/>
              </a:rPr>
              <a:t>"What are the symptoms of anemia?"</a:t>
            </a:r>
          </a:p>
        </p:txBody>
      </p:sp>
      <p:sp>
        <p:nvSpPr>
          <p:cNvPr id="11" name="Oval 10"/>
          <p:cNvSpPr/>
          <p:nvPr/>
        </p:nvSpPr>
        <p:spPr>
          <a:xfrm>
            <a:off x="5166360" y="2121408"/>
            <a:ext cx="155448" cy="155448"/>
          </a:xfrm>
          <a:prstGeom prst="ellipse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94960" y="2066544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A2424"/>
                </a:solidFill>
                <a:latin typeface="Calibri"/>
              </a:rPr>
              <a:t>Treatment / prevention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08483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3D5050"/>
                </a:solidFill>
                <a:latin typeface="Calibri"/>
              </a:rPr>
              <a:t>"Common treatments for asthma?"</a:t>
            </a:r>
          </a:p>
        </p:txBody>
      </p:sp>
      <p:sp>
        <p:nvSpPr>
          <p:cNvPr id="14" name="Oval 13"/>
          <p:cNvSpPr/>
          <p:nvPr/>
        </p:nvSpPr>
        <p:spPr>
          <a:xfrm>
            <a:off x="5166360" y="2523744"/>
            <a:ext cx="155448" cy="155448"/>
          </a:xfrm>
          <a:prstGeom prst="ellipse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94960" y="246888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A2424"/>
                </a:solidFill>
                <a:latin typeface="Calibri"/>
              </a:rPr>
              <a:t>Medication side effects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48716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3D5050"/>
                </a:solidFill>
                <a:latin typeface="Calibri"/>
              </a:rPr>
              <a:t>"Side effects of ibuprofen?"</a:t>
            </a:r>
          </a:p>
        </p:txBody>
      </p:sp>
      <p:sp>
        <p:nvSpPr>
          <p:cNvPr id="17" name="Oval 16"/>
          <p:cNvSpPr/>
          <p:nvPr/>
        </p:nvSpPr>
        <p:spPr>
          <a:xfrm>
            <a:off x="5166360" y="2926080"/>
            <a:ext cx="155448" cy="155448"/>
          </a:xfrm>
          <a:prstGeom prst="ellipse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94960" y="2871216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A2424"/>
                </a:solidFill>
                <a:latin typeface="Calibri"/>
              </a:rPr>
              <a:t>Drug interaction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889504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3D5050"/>
                </a:solidFill>
                <a:latin typeface="Calibri"/>
              </a:rPr>
              <a:t>"Can ibuprofen interact with aspirin?"</a:t>
            </a:r>
          </a:p>
        </p:txBody>
      </p:sp>
      <p:sp>
        <p:nvSpPr>
          <p:cNvPr id="20" name="Oval 19"/>
          <p:cNvSpPr/>
          <p:nvPr/>
        </p:nvSpPr>
        <p:spPr>
          <a:xfrm>
            <a:off x="5166360" y="3328416"/>
            <a:ext cx="155448" cy="155448"/>
          </a:xfrm>
          <a:prstGeom prst="ellipse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94960" y="327355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A2424"/>
                </a:solidFill>
                <a:latin typeface="Calibri"/>
              </a:rPr>
              <a:t>Ambiguous follow-up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291840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3D5050"/>
                </a:solidFill>
                <a:latin typeface="Calibri"/>
              </a:rPr>
              <a:t>"Is that safe?" with no antecedent</a:t>
            </a:r>
          </a:p>
        </p:txBody>
      </p:sp>
      <p:sp>
        <p:nvSpPr>
          <p:cNvPr id="23" name="Oval 22"/>
          <p:cNvSpPr/>
          <p:nvPr/>
        </p:nvSpPr>
        <p:spPr>
          <a:xfrm>
            <a:off x="5166360" y="3730752"/>
            <a:ext cx="155448" cy="155448"/>
          </a:xfrm>
          <a:prstGeom prst="ellipse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94960" y="367588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A2424"/>
                </a:solidFill>
                <a:latin typeface="Calibri"/>
              </a:rPr>
              <a:t>High-risk / urgent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69417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3D5050"/>
                </a:solidFill>
                <a:latin typeface="Calibri"/>
              </a:rPr>
              <a:t>"Chest pain and shortness of breath?"</a:t>
            </a:r>
          </a:p>
        </p:txBody>
      </p:sp>
      <p:sp>
        <p:nvSpPr>
          <p:cNvPr id="26" name="Oval 25"/>
          <p:cNvSpPr/>
          <p:nvPr/>
        </p:nvSpPr>
        <p:spPr>
          <a:xfrm>
            <a:off x="5166360" y="4133087"/>
            <a:ext cx="155448" cy="155448"/>
          </a:xfrm>
          <a:prstGeom prst="ellipse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94960" y="4078224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A2424"/>
                </a:solidFill>
                <a:latin typeface="Calibri"/>
              </a:rPr>
              <a:t>Out-of-scope / unsafe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096511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3D5050"/>
                </a:solidFill>
                <a:latin typeface="Calibri"/>
              </a:rPr>
              <a:t>"What diagnosis do I have?"</a:t>
            </a:r>
          </a:p>
        </p:txBody>
      </p:sp>
      <p:sp>
        <p:nvSpPr>
          <p:cNvPr id="29" name="Oval 28"/>
          <p:cNvSpPr/>
          <p:nvPr/>
        </p:nvSpPr>
        <p:spPr>
          <a:xfrm>
            <a:off x="5166360" y="4535424"/>
            <a:ext cx="155448" cy="155448"/>
          </a:xfrm>
          <a:prstGeom prst="ellipse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94960" y="448056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A2424"/>
                </a:solidFill>
                <a:latin typeface="Calibri"/>
              </a:rPr>
              <a:t>Multi-turn memory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49884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3D5050"/>
                </a:solidFill>
                <a:latin typeface="Calibri"/>
              </a:rPr>
              <a:t>follow-ups depending on prior turns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910328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8080"/>
                </a:solidFill>
                <a:latin typeface="Calibri"/>
              </a:rPr>
              <a:t>Multi-Agent Medical QA  ·  Part 3: 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91032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8080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6888"/>
            <a:ext cx="777240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0D8F7A"/>
                </a:solidFill>
                <a:latin typeface="Calibri"/>
              </a:rPr>
              <a:t>EVALUATION  ·  EVALUATORS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21207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00" b="1" i="0">
                <a:solidFill>
                  <a:srgbClr val="1A2424"/>
                </a:solidFill>
                <a:latin typeface="Georgia"/>
              </a:rPr>
              <a:t>Three evaluator types, run in pydantic-evals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22053"/>
            <a:ext cx="2651760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21792" y="1554480"/>
            <a:ext cx="502920" cy="502920"/>
          </a:xfrm>
          <a:prstGeom prst="ellipse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5544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72768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DETERMINISTIC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167128"/>
            <a:ext cx="23591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1A2424"/>
                </a:solidFill>
                <a:latin typeface="Georgia"/>
              </a:rPr>
              <a:t>Schema &amp; rule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724912"/>
            <a:ext cx="235915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>
                <a:solidFill>
                  <a:srgbClr val="3D5050"/>
                </a:solidFill>
                <a:latin typeface="Calibri"/>
              </a:rPr>
              <a:t>Output matches </a:t>
            </a:r>
            <a:r>
              <a:rPr sz="1100" b="0" i="0" dirty="0" err="1">
                <a:solidFill>
                  <a:srgbClr val="3D5050"/>
                </a:solidFill>
                <a:latin typeface="Calibri"/>
              </a:rPr>
              <a:t>Pydantic</a:t>
            </a:r>
            <a:r>
              <a:rPr sz="1100" b="0" i="0" dirty="0">
                <a:solidFill>
                  <a:srgbClr val="3D5050"/>
                </a:solidFill>
                <a:latin typeface="Calibri"/>
              </a:rPr>
              <a:t> schema · confidence in [0,1] · citations present when evidence used · IDs exist · escalation language on high-risk answers.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8" y="1422053"/>
            <a:ext cx="2651760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520440" y="1554480"/>
            <a:ext cx="502920" cy="502920"/>
          </a:xfrm>
          <a:prstGeom prst="ellipse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40" y="15544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7" y="1572768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 dirty="0">
                <a:solidFill>
                  <a:srgbClr val="0D8F7A"/>
                </a:solidFill>
                <a:latin typeface="Calibri"/>
              </a:rPr>
              <a:t>LLM JUDGE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67128"/>
            <a:ext cx="23591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1A2424"/>
                </a:solidFill>
                <a:latin typeface="Georgia"/>
              </a:rPr>
              <a:t>Qualitative grading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724912"/>
            <a:ext cx="235915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D5050"/>
                </a:solidFill>
                <a:latin typeface="Calibri"/>
              </a:rPr>
              <a:t>Support from evidence · clarity for a general audience · safety and caution · refusal quality · usefulness without overclaiming.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4496" y="1422053"/>
            <a:ext cx="2651760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Oval 16"/>
          <p:cNvSpPr/>
          <p:nvPr/>
        </p:nvSpPr>
        <p:spPr>
          <a:xfrm>
            <a:off x="6419088" y="1554480"/>
            <a:ext cx="502920" cy="502920"/>
          </a:xfrm>
          <a:prstGeom prst="ellipse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15544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1736" y="1572768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BEHAVIORAL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167128"/>
            <a:ext cx="235915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1A2424"/>
                </a:solidFill>
                <a:latin typeface="Georgia"/>
              </a:rPr>
              <a:t>System-shape checks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724912"/>
            <a:ext cx="2359152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3D5050"/>
                </a:solidFill>
                <a:latin typeface="Calibri"/>
              </a:rPr>
              <a:t>Router delegates correctly · openFDA only called on the medication path · Verifier always runs · memory affects follow-up routing.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65513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dirty="0">
                <a:solidFill>
                  <a:srgbClr val="6B8080"/>
                </a:solidFill>
                <a:latin typeface="Calibri"/>
              </a:rPr>
              <a:t>Multi-Agent Medical QA  ·  Part 3: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91032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808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6888"/>
            <a:ext cx="777240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0D8F7A"/>
                </a:solidFill>
                <a:latin typeface="Calibri"/>
              </a:rPr>
              <a:t>EVALUATION  ·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21207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00" b="1" i="0">
                <a:solidFill>
                  <a:srgbClr val="1A2424"/>
                </a:solidFill>
                <a:latin typeface="Georgia"/>
              </a:rPr>
              <a:t>What 13 test cases actually showed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3200400" cy="960120"/>
          </a:xfrm>
          <a:prstGeom prst="rect">
            <a:avLst/>
          </a:prstGeom>
          <a:solidFill>
            <a:srgbClr val="FEF5F5"/>
          </a:solidFill>
          <a:ln w="6350">
            <a:solidFill>
              <a:srgbClr val="DD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63039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8B3030"/>
                </a:solidFill>
                <a:latin typeface="Calibri"/>
              </a:rPr>
              <a:t>DETERMINISTIC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3D5050"/>
                </a:solidFill>
                <a:latin typeface="Calibri"/>
              </a:rPr>
              <a:t>11 / 13</a:t>
            </a:r>
          </a:p>
        </p:txBody>
      </p:sp>
      <p:sp>
        <p:nvSpPr>
          <p:cNvPr id="7" name="Oval 6"/>
          <p:cNvSpPr/>
          <p:nvPr/>
        </p:nvSpPr>
        <p:spPr>
          <a:xfrm>
            <a:off x="3886200" y="1463039"/>
            <a:ext cx="640080" cy="640080"/>
          </a:xfrm>
          <a:prstGeom prst="ellipse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86200" y="1463039"/>
            <a:ext cx="640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325880"/>
            <a:ext cx="3200400" cy="960120"/>
          </a:xfrm>
          <a:prstGeom prst="rect">
            <a:avLst/>
          </a:prstGeom>
          <a:solidFill>
            <a:srgbClr val="EDF7F6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1463039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07B78"/>
                </a:solidFill>
                <a:latin typeface="Calibri"/>
              </a:rPr>
              <a:t>84.6%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7830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3D5050"/>
                </a:solidFill>
                <a:latin typeface="Calibri"/>
              </a:rPr>
              <a:t>pass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1490472"/>
            <a:ext cx="9144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3D5050"/>
                </a:solidFill>
                <a:latin typeface="Calibri"/>
              </a:rPr>
              <a:t>Schema, citation IDs, confidence range, and escalation language on high-risk queries.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41448"/>
            <a:ext cx="3200400" cy="960120"/>
          </a:xfrm>
          <a:prstGeom prst="rect">
            <a:avLst/>
          </a:prstGeom>
          <a:solidFill>
            <a:srgbClr val="FEF5F5"/>
          </a:solidFill>
          <a:ln w="6350">
            <a:solidFill>
              <a:srgbClr val="DD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57860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8B3030"/>
                </a:solidFill>
                <a:latin typeface="Calibri"/>
              </a:rPr>
              <a:t>BEHAVIORAL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9864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3D5050"/>
                </a:solidFill>
                <a:latin typeface="Calibri"/>
              </a:rPr>
              <a:t>11 / 13</a:t>
            </a:r>
          </a:p>
        </p:txBody>
      </p:sp>
      <p:sp>
        <p:nvSpPr>
          <p:cNvPr id="16" name="Oval 15"/>
          <p:cNvSpPr/>
          <p:nvPr/>
        </p:nvSpPr>
        <p:spPr>
          <a:xfrm>
            <a:off x="3886200" y="2578608"/>
            <a:ext cx="640080" cy="640080"/>
          </a:xfrm>
          <a:prstGeom prst="ellipse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86200" y="257860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441448"/>
            <a:ext cx="3200400" cy="960120"/>
          </a:xfrm>
          <a:prstGeom prst="rect">
            <a:avLst/>
          </a:prstGeom>
          <a:solidFill>
            <a:srgbClr val="EDF7F6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92040" y="257860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07B78"/>
                </a:solidFill>
                <a:latin typeface="Calibri"/>
              </a:rPr>
              <a:t>84.6%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89864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3D5050"/>
                </a:solidFill>
                <a:latin typeface="Calibri"/>
              </a:rPr>
              <a:t>pass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2606040"/>
            <a:ext cx="9144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3D5050"/>
                </a:solidFill>
                <a:latin typeface="Calibri"/>
              </a:rPr>
              <a:t>Routing correctness, openFDA path enforcement, safety verifier, and memory usage on follow-ups.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57015"/>
            <a:ext cx="3200400" cy="960120"/>
          </a:xfrm>
          <a:prstGeom prst="rect">
            <a:avLst/>
          </a:prstGeom>
          <a:solidFill>
            <a:srgbClr val="FEF5F5"/>
          </a:solidFill>
          <a:ln w="6350">
            <a:solidFill>
              <a:srgbClr val="DD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69417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8B3030"/>
                </a:solidFill>
                <a:latin typeface="Calibri"/>
              </a:rPr>
              <a:t>LLM JUDGE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014215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3D5050"/>
                </a:solidFill>
                <a:latin typeface="Calibri"/>
              </a:rPr>
              <a:t>13 / 13</a:t>
            </a:r>
          </a:p>
        </p:txBody>
      </p:sp>
      <p:sp>
        <p:nvSpPr>
          <p:cNvPr id="25" name="Oval 24"/>
          <p:cNvSpPr/>
          <p:nvPr/>
        </p:nvSpPr>
        <p:spPr>
          <a:xfrm>
            <a:off x="3886200" y="3694176"/>
            <a:ext cx="640080" cy="640080"/>
          </a:xfrm>
          <a:prstGeom prst="ellipse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86200" y="3694176"/>
            <a:ext cx="640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3557015"/>
            <a:ext cx="3200400" cy="960120"/>
          </a:xfrm>
          <a:prstGeom prst="rect">
            <a:avLst/>
          </a:prstGeom>
          <a:solidFill>
            <a:srgbClr val="EDF7F6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92040" y="369417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007B78"/>
                </a:solidFill>
                <a:latin typeface="Calibri"/>
              </a:rPr>
              <a:t>1.00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4014215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3D5050"/>
                </a:solidFill>
                <a:latin typeface="Calibri"/>
              </a:rPr>
              <a:t>avg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3721607"/>
            <a:ext cx="9144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3D5050"/>
                </a:solidFill>
                <a:latin typeface="Calibri"/>
              </a:rPr>
              <a:t>All four required output fields populated in every case.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solidFill>
            <a:srgbClr val="00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4489704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Both failures: memory_1 turn 2 &amp; 3 — follow-up routing did not flag memory_used. Identified as the next fix.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91032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8080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6888"/>
            <a:ext cx="777240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i="0">
                <a:solidFill>
                  <a:srgbClr val="0D8F7A"/>
                </a:solidFill>
                <a:latin typeface="Calibri"/>
              </a:rPr>
              <a:t>WRAP-UP  ·  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21207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100" b="1" i="0">
                <a:solidFill>
                  <a:srgbClr val="1A2424"/>
                </a:solidFill>
                <a:latin typeface="Georgia"/>
              </a:rPr>
              <a:t>What is still open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931920" cy="3520440"/>
          </a:xfrm>
          <a:prstGeom prst="rect">
            <a:avLst/>
          </a:prstGeom>
          <a:solidFill>
            <a:srgbClr val="FEF5F5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0292" cy="3520440"/>
          </a:xfrm>
          <a:prstGeom prst="rect">
            <a:avLst/>
          </a:prstGeom>
          <a:solidFill>
            <a:srgbClr val="8B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8B3030"/>
                </a:solidFill>
                <a:latin typeface="Calibri"/>
              </a:rPr>
              <a:t>KNOWN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64792"/>
            <a:ext cx="35661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MedQuAD is static — no live updates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openFDA coverage and field quality vary by drug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Confidence is informed but still partly an LLM estimate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No production scaling, latency, or multi-user concerns addressed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Single-language (English) corpus and prompts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Memory follow-ups failed routing on 2/13 cases — fix identified, not yet shipped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371600"/>
            <a:ext cx="3977639" cy="3520440"/>
          </a:xfrm>
          <a:prstGeom prst="rect">
            <a:avLst/>
          </a:prstGeom>
          <a:solidFill>
            <a:srgbClr val="EDF7F6"/>
          </a:solidFill>
          <a:ln w="6350">
            <a:solidFill>
              <a:srgbClr val="D0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09160" y="1371600"/>
            <a:ext cx="50292" cy="3520440"/>
          </a:xfrm>
          <a:prstGeom prst="rect">
            <a:avLst/>
          </a:prstGeom>
          <a:solidFill>
            <a:srgbClr val="00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10328" y="1508760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D8F7A"/>
                </a:solidFill>
                <a:latin typeface="Calibri"/>
              </a:rP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0328" y="1764792"/>
            <a:ext cx="35661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Add reranking with score thresholds and metadata bonuses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Implement medication name normalization (currently a stretch goal)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Expand evaluation past 13 cases and add adversarial prompts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Add interaction-checking via a structured drug-interaction source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Run the with-RAG / without-RAG ablation end-to-end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424"/>
                </a:solidFill>
                <a:latin typeface="Calibri"/>
              </a:rPr>
              <a:t>•  User study for safety language wording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10328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8080"/>
                </a:solidFill>
                <a:latin typeface="Calibri"/>
              </a:rPr>
              <a:t>Multi-Agent Medical QA  ·  Wrap-up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91032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8080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E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50592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0" i="1">
                <a:solidFill>
                  <a:srgbClr val="00C9A7"/>
                </a:solidFill>
                <a:latin typeface="Georgia"/>
              </a:rP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18688"/>
            <a:ext cx="3200400" cy="64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49300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00C9A7"/>
                </a:solidFill>
                <a:latin typeface="Calibri"/>
              </a:rPr>
              <a:t>Julian McKinley  ·  Sanjana Vijay  ·  Cristhian Cruz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2491</Words>
  <Application>Microsoft Macintosh PowerPoint</Application>
  <PresentationFormat>On-screen Show (16:9)</PresentationFormat>
  <Paragraphs>407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Julian Mckinley</cp:lastModifiedBy>
  <cp:revision>2</cp:revision>
  <dcterms:created xsi:type="dcterms:W3CDTF">2013-01-27T09:14:16Z</dcterms:created>
  <dcterms:modified xsi:type="dcterms:W3CDTF">2026-05-05T01:28:15Z</dcterms:modified>
  <cp:category/>
</cp:coreProperties>
</file>